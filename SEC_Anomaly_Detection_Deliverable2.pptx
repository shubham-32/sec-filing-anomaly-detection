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95F02"/>
                </a:solidFill>
              </a:defRPr>
            </a:pPr>
            <a:r>
              <a:t>TASK ID FDA-2 • BIG DATA ANALYTICS (SEM 7)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Fraud Detection Through Financial Anomalies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</a:defRPr>
            </a:pPr>
            <a:r>
              <a:t>Deliverable 2: Machine Learning, Multi-Year Trend Analysis &amp; Automated New-Filing Pipeline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End-to-End System: Statistical Robust Z-Scores • Isolation Forest • 12-Quarter Trend Trajectories • Beneish M-Score Benchmark • Live Audit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Executive Summary &amp; Problem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The Forensic Challenge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Financial reporting fraud costs investors billions annually (e.g. Enron, WorldCom, Kraft Heinz).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SEC 10-K and 10-Q filings span thousands of XBRL tags with complex restatements and standard changes (ASC 606).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Manual audit cannot keep pace with thousands of public filers submitting quarterly reports simultaneously.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Need: Automated machine learning systems to flag anomalous filings for human auditor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Dual-Methodology Solution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Unsupervised Learning (Isolation Forest): Evaluates multi-dimensional interactions across 42 financial features.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Statistical Anomaly Detection: Trailing median/MAD robust Z-scores isolate extreme quarterly spikes.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Multi-Year Trend Analysis: 12-quarter rolling baselines detect sudden structural breaks and diverging margins.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Beneish M-Score Benchmark: Validates quarterly alerts against forensic accounting probability formulas.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</a:defRPr>
            </a:pPr>
            <a:r>
              <a:t>Project Achievements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1,238 Quarters Scored across 26 companies over 12 fiscal years (FY2014-FY2026).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Documented Fraud Sensitivity: High anomaly flags triggered for KHC (procurement fraud), UAA (channel stuffing), SMCI (revenue recognition).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Automated New Filing Pipeline: Ingests, extracts, trends, and scores new filings in under 2 seconds.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Fully Executed Notebook &amp; Live Interactive Demonstration CLI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ML &amp; Data Analytics Objectives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✓ Apply Statistical Anomaly Detection (Isolation Forest, Z-score)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Implemented rolling median/MAD robust Z-score (|Z| &gt;= 3.5) and 300-estimator Isolation Forest (contamination=0.05). Both models operate strictly on financial ratios and growth rates without company identifiers or target leakage.</a:t>
            </a:r>
          </a:p>
          <a:p>
            <a:pPr>
              <a:defRPr sz="1400" b="1">
                <a:solidFill>
                  <a:srgbClr val="1B365D"/>
                </a:solidFill>
              </a:defRPr>
            </a:pPr>
            <a:r>
              <a:t>✓ Compare Multi-Year Trends for Sudden Deviations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Constructed trailing 12-quarter (3-year) rolling means and standard deviations using strictly prior quarters (shift(1)). Evaluated standardized trend deviation scores for revenue, expense ratio, gross/operating margins, and Sloan accruals.</a:t>
            </a:r>
          </a:p>
          <a:p>
            <a:pPr>
              <a:defRPr sz="1400" b="1">
                <a:solidFill>
                  <a:srgbClr val="1B365D"/>
                </a:solidFill>
              </a:defRPr>
            </a:pPr>
            <a:r>
              <a:t>✓ Extract 5+ Years of Financial Statements via EDGAR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Secondary dataset extracted 12+ years of point-in-time XBRL filings from SEC EDGAR (FY2014-FY2026), comfortably exceeding the 5-year requirement.</a:t>
            </a:r>
          </a:p>
          <a:p>
            <a:pPr>
              <a:defRPr sz="1400" b="1">
                <a:solidFill>
                  <a:srgbClr val="1B365D"/>
                </a:solidFill>
              </a:defRPr>
            </a:pPr>
            <a:r>
              <a:t>✓ Identify Inconsistent Trends in Revenue, Expenses, or Margins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Developed automated divergence flags to detect revenue growth accelerating while operating margins collapse, or expense ratios surging past historical norms.</a:t>
            </a:r>
          </a:p>
          <a:p>
            <a:pPr>
              <a:defRPr sz="1400" b="1">
                <a:solidFill>
                  <a:srgbClr val="1B365D"/>
                </a:solidFill>
              </a:defRPr>
            </a:pPr>
            <a:r>
              <a:t>✓ Automated Pipeline for New Filings</a:t>
            </a:r>
          </a:p>
          <a:p>
            <a:pPr>
              <a:spcAft>
                <a:spcPts val="1200"/>
              </a:spcAft>
              <a:defRPr sz="1150">
                <a:solidFill>
                  <a:srgbClr val="1E293B"/>
                </a:solidFill>
              </a:defRPr>
            </a:pPr>
            <a:r>
              <a:t>Built an automated end-to-end pipeline CLI (run_pipeline.py) and interactive demo that accepts new filing JSON/CSV or ticker inputs, calculates trailing features, and outputs a diagnostic risk scorecard.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659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F02"/>
                </a:solidFill>
              </a:defRPr>
            </a:pPr>
            <a:r>
              <a:t>01. DATA INGESTION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SEC EDGAR API</a:t>
            </a:r>
            <a:br/>
            <a:r>
              <a:t>• companyfacts JSON</a:t>
            </a:r>
            <a:br/>
            <a:r>
              <a:t>• submissions JSON</a:t>
            </a:r>
            <a:br/>
            <a:r>
              <a:t>• 26 companies (FY14-26)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645920"/>
            <a:ext cx="19659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F02"/>
                </a:solidFill>
              </a:defRPr>
            </a:pPr>
            <a:r>
              <a:t>02. EXTRACTION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Point-in-Time Dataset</a:t>
            </a:r>
            <a:br/>
            <a:r>
              <a:t>• As-first-reported</a:t>
            </a:r>
            <a:br/>
            <a:r>
              <a:t>• ASC 606 tag tracking</a:t>
            </a:r>
            <a:br/>
            <a:r>
              <a:t>• Derived 3M quarters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19659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F02"/>
                </a:solidFill>
              </a:defRPr>
            </a:pPr>
            <a:r>
              <a:t>03. TREND ANALYTICS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12-Quarter Rolling Trends</a:t>
            </a:r>
            <a:br/>
            <a:r>
              <a:t>• Revenue vs Expense</a:t>
            </a:r>
            <a:br/>
            <a:r>
              <a:t>• Margin deviations</a:t>
            </a:r>
            <a:br/>
            <a:r>
              <a:t>• Accrual divergences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45920"/>
            <a:ext cx="19659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F02"/>
                </a:solidFill>
              </a:defRPr>
            </a:pPr>
            <a:r>
              <a:t>04. ML &amp; STAT MODELS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Dual Detection Engine</a:t>
            </a:r>
            <a:br/>
            <a:r>
              <a:t>• Robust Z-scores</a:t>
            </a:r>
            <a:br/>
            <a:r>
              <a:t>• Isolation Forest</a:t>
            </a:r>
            <a:br/>
            <a:r>
              <a:t>• Beneish M-Score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196596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1828800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5F02"/>
                </a:solidFill>
              </a:defRPr>
            </a:pPr>
            <a:r>
              <a:t>05. TRIAGE PIPELINE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Audit Scorecard</a:t>
            </a:r>
            <a:br/>
            <a:r>
              <a:t>• Risk Classification</a:t>
            </a:r>
            <a:br/>
            <a:r>
              <a:t>• Contributing Red Flags</a:t>
            </a:r>
            <a:br/>
            <a:r>
              <a:t>• Auditor Checklist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Secondary Dataset &amp;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Dataset Characteristics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Grain: Company × Fiscal Quarter (1,334 company-quarters).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Horizon: FY2014 to FY2026 (12 years of quarterly history).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Coverage: 20 Control Companies (Apple, Microsoft, Johnson &amp; Johnson, Walmart, Costco, etc.).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Reference Group: 6 Companies with documented accounting enforcement or restatements (KHC, UAA, SMCI, MDXG, PLUG, MAT).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Point-in-Time Integrity: Values as first reported in original 10-Q filings, preventing look-ahead bias.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Quality Filters: 96 rows filtered for missing/negative revenue or tag switches; 1,238 clean observations scored.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42 Selected Model Features (5 Families)</a:t>
            </a:r>
          </a:p>
          <a:p>
            <a:pPr>
              <a:defRPr sz="1150" b="1">
                <a:solidFill>
                  <a:srgbClr val="D95F02"/>
                </a:solidFill>
              </a:defRPr>
            </a:pPr>
            <a:r>
              <a:t>• Growth Features: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revenue_qoq_growth, revenue_yoy_growth, cogs_yoy_growth, sga_yoy_growth, net_income_yoy_growth, ar_yoy_growth.</a:t>
            </a:r>
          </a:p>
          <a:p>
            <a:pPr>
              <a:defRPr sz="1150" b="1">
                <a:solidFill>
                  <a:srgbClr val="D95F02"/>
                </a:solidFill>
              </a:defRPr>
            </a:pPr>
            <a:r>
              <a:t>• Expense Ratios &amp; Margins: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cogs_to_revenue, sga_to_revenue, rnd_to_revenue, total_expense_to_revenue, gross_margin, operating_margin, net_margin, margin YoY changes.</a:t>
            </a:r>
          </a:p>
          <a:p>
            <a:pPr>
              <a:defRPr sz="1150" b="1">
                <a:solidFill>
                  <a:srgbClr val="D95F02"/>
                </a:solidFill>
              </a:defRPr>
            </a:pPr>
            <a:r>
              <a:t>• Working Capital &amp; Accruals: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Days Sales Outstanding (dso), Days Inventory Outstanding (dio), Sloan Accruals to Assets (accruals_to_assets), cfo_to_net_income.</a:t>
            </a:r>
          </a:p>
          <a:p>
            <a:pPr>
              <a:defRPr sz="1150" b="1">
                <a:solidFill>
                  <a:srgbClr val="D95F02"/>
                </a:solidFill>
              </a:defRPr>
            </a:pPr>
            <a:r>
              <a:t>• Channel Stuffing Indicator: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ar_growth_minus_revenue_growth (signals revenue pulled forward or bogus receivables).</a:t>
            </a:r>
          </a:p>
          <a:p>
            <a:pPr>
              <a:defRPr sz="1150" b="1">
                <a:solidFill>
                  <a:srgbClr val="D95F02"/>
                </a:solidFill>
              </a:defRPr>
            </a:pPr>
            <a:r>
              <a:t>• Trailing Robust Z-Scores: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8-quarter rolling median/MAD scores across 8 core ratios (rz_* and z_*).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Multi-Year Trend Analysis &amp; Sudden Deviations</a:t>
            </a:r>
          </a:p>
        </p:txBody>
      </p:sp>
      <p:pic>
        <p:nvPicPr>
          <p:cNvPr id="4" name="Picture 3" descr="multi_yea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48887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Detecting Trend Breaks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Strictly Trailing Baselines: 12-quarter rolling window with shift(1) prevents look-ahead leakage.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Normalized Trend Dev: Evaluates standard deviations away from trailing 3-year mean.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Threshold: Quarters with |dev| &gt;= 2.5σ marked as sudden trend breaks (282 quarters identified).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Inconsistent Trends: Flags when revenue accelerates while operating cash flow or margins collapse.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Visual Proof: Kraft Heinz operating margin collapse (-205%) and Super Micro Computer volatility stand out distinctly against stable Microsoft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Statistical Anomaly Detection (Trailing Robust Z-Score)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Mathematical Formulation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Why Not Standard Z-Score? A single massive accounting restatement or write-down inflates the sample standard deviation, masking future anomalies.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Robust Z-Score (RZ): Uses rolling median and Median Absolute Deviation (MAD):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   RZ_t = [x_t - Median(x_{t-8..t-1})] / [1.4826 * MAD(x_{t-8..t-1})]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Where MAD = Median(|x_i - Median(x)|). The factor 1.4826 makes MAD an unbiased estimator for normally distributed data.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Composite Anomaly Score: Evaluated as the maximum absolute robust score across 8 key financial dimensions.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Decision Threshold: |Z| &gt;= 3.5 marks extreme statistical departures (391 quarters flagged).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Statistical Detection Performance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Observations Scored: 1,238 company-quarters.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Flagged Observations: 391 quarters (31.6% universe rate).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Control Group Flag Rate: 31.0%.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Reference Group Flag Rate: 33.5% (Elevated flag rate in fraud/investigated cases).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Strengths: Pinpoints extreme acute shocks (e.g. massive single-quarter goodwill impairment, sudden DSO spike).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Limitations: Univariate trailing nature means correlated multidimensional drift may be missed without machine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Machine Learning Anomaly Detection (Isolation Forest)</a:t>
            </a:r>
          </a:p>
        </p:txBody>
      </p:sp>
      <p:pic>
        <p:nvPicPr>
          <p:cNvPr id="4" name="Picture 3" descr="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Model Pipeline &amp; Settings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Architecture: SimpleImputer (median) -&gt; RobustScaler (10-90th percentile) -&gt; IsolationForest (300 estimators).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Principle: Anomalies require fewer recursive binary feature splits to isolate in random trees.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Anomaly Score: Score_IF = -score_samples(X). Higher score = more isolated/anomalous.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Contamination Setting: 0.05 (flags top 5.0% most unusual quarters = 62 observations).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Empirical Validation: Reference fraud group is visibly shifted toward higher anomaly scores in the KDE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Model Comparison &amp; Reference vs Control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B365D"/>
                </a:solidFill>
              </a:defRPr>
            </a:pPr>
            <a:r>
              <a:t>Descriptive Model Comparison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011680"/>
          <a:ext cx="101498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  <a:gridCol w="173736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Scored Rows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Flagged Rows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Control Flag %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Reference Flag %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Robust Trailing Z-Score (|Z|&gt;=3.5)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391 (31.6%)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Isolation Forest (Contamination=0.05)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1,238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62 (5.0%)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Multi-Year Sudden Deviations (|dev|&gt;=2.5σ)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282 (22.8%)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39319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5F02"/>
                </a:solidFill>
              </a:defRPr>
            </a:pPr>
            <a:r>
              <a:t>Key Analytical Insights: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Elevated Risk Sensitivity: Across all three methodologies, the Reference Group (companies with verified accounting actions) demonstrates systematically higher flag rates than the Control Group.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Complementary Detection Profiles: Z-scores excel at detecting single-metric spikes; Isolation Forest detects multi-ratio imbalances (e.g. modest growth with deteriorating receivables and cash conversion).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Weak Labels Caveat: Group-level labels reflect company-level enforcement history, not quarter-level fraud ground truth; rates are presented as descriptive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Top Anomaly Candidates Leaderboard</a:t>
            </a:r>
          </a:p>
        </p:txBody>
      </p:sp>
      <p:pic>
        <p:nvPicPr>
          <p:cNvPr id="4" name="Picture 3" descr="top_anomalies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6210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Top Anomaly Insights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Super Micro Computer (SMCI): Dominates top ranks with extreme revenue growth swings and receivables anomalies.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Kraft Heinz (KHC): High anomaly scores in FY2018-FY2019 aligning with SEC investigation and procurement charge.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Under Armour (UAA): Prominent anomaly ranks during 2016-2020 revenue stagnation and restructuring.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Control Outliers: Blue chips appearing in the top 15 (e.g. 3M Solventum spinoff, Honeywell corporate restructuring) correspond to major disclosed corporate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Forensic Case Studies: Validating Real Accounting Scandals</a:t>
            </a:r>
          </a:p>
        </p:txBody>
      </p:sp>
      <p:pic>
        <p:nvPicPr>
          <p:cNvPr id="4" name="Picture 3" descr="case_studies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26933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Real-World Scandal Signals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Kraft Heinz (KHC) Procurement Fraud: In FY2018 Q4, operating margin crashed to -205% (RZ = -9.45σ) alongside $15.4B goodwill write-down.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Under Armour (UAA) Channel Stuffing: In 2015-2016, receivables growth outpaced revenue growth by up to 7.23σ, signalling pulled-forward orders.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MiMedx Group (MDXG): Wholesaler channel stuffing produced gross margin swings of 7.85σ and DSO spikes of 5.24σ prior to restatement.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Forensic Benchmark: Annual Beneish M-Score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Beneish M-Score Formulation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Probabilistic 8-Variable Forensic Model: Developed by Prof. Messod Beneish to assess financial manipulation likelihood.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 = -4.84 + 0.920*DSRI + 0.528*GMI + 0.404*AQI + 0.892*SGI + 0.115*DEPI - 0.172*SGAI + 4.037*TATA + 0.0327*LVGI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DSRI: Days Sales in Receivables Index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GMI: Gross Margin Index (decaying margins)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AQI: Asset Quality Index (non-current assets)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SGI: Sales Growth Index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TATA: Total Accruals to Total Assets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Threshold: M &gt; -1.78 signals high manipulation probability.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Benchmarking Results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Company-Years Analyzed: 285 company-years with complete annual filings.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Beneish Flagged Years (M &gt; -1.78): 36 company-years (12.6% manipulation risk rate).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Isolation Forest Quarterly Alerts: 52 company-years had at least one IF-flagged quarter.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Consensus Alerts: Significant concordance between annual Beneish alerts and quarterly ML flags in reference companies (e.g. KHC, UAA, SMCI).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Methodological Independence: Beneish was joined strictly post-hoc for validation and was never used during model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Automated Pipeline for New Filings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t>Automated Live Ingestion &amp; Audit Triage Workflow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1. Ingestion Engine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Ingests newly submitted 10-Q/10-K filings from SEC EDGAR API or local JSON/CSV filings on demand via CLI: python run_pipeline.py --ticker SMCI.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2. Real-Time Feature Calculation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Appends filing to company historical filings, derives 42 financial ratios, computes trailing 8-quarter Z-scores, and calculates trailing 12-quarter multi-year trend deviations.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3. Model Scoring &amp; Consensus Tiering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Executes pre-trained Isolation Forest model (isolation_forest_model.joblib) and evaluates robust Z-scores and multi-year trend breaks simultaneously.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4. Risk Classification Tiers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HIGH ANOMALY (Multi-Method Consensus): Immediate forensic audit priority.</a:t>
            </a:r>
            <a:br/>
            <a:r>
              <a:t>• ELEVATED REVIEW (Single-Method Alert): Secondary triage.</a:t>
            </a:r>
            <a:br/>
            <a:r>
              <a:t>• NORMAL: Cleared for continuous monitoring.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5. Actionable Audit Scorecard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Outputs flagged financial metrics with exact deviation sigmas and automated auditor audit recommendations (e.g. audit receivables aging, verify inventory capitalization).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Technologies, Tools &amp; Frameworks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Machine Learning &amp; Stats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Scikit-learn: Isolation Forest, RobustScaler, SimpleImputer</a:t>
            </a:r>
            <a:br/>
            <a:r>
              <a:t>• SciPy &amp; Statsmodels: Median Absolute Deviation (MAD), Rolling Statistics</a:t>
            </a:r>
            <a:br/>
            <a:r>
              <a:t>• Joblib: Model serialization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Data Processing &amp; APIs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Python 3.13: Core runtime</a:t>
            </a:r>
            <a:br/>
            <a:r>
              <a:t>• Pandas &amp; NumPy: Vectorized ratio calculations and rolling window math</a:t>
            </a:r>
            <a:br/>
            <a:r>
              <a:t>• SEC EDGAR REST API: Keyless corporate facts and filings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Visualization &amp; Presentation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Seaborn &amp; Matplotlib: High-resolution KDE distributions, trend lines, and bar charts</a:t>
            </a:r>
            <a:br/>
            <a:r>
              <a:t>• Python-PPTX: Automated slide generation</a:t>
            </a:r>
            <a:br/>
            <a:r>
              <a:t>• Jupyter &amp; Nbconvert: Executable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65D"/>
                </a:solidFill>
              </a:defRPr>
            </a:pPr>
            <a:r>
              <a:t>Automated Pipelines &amp; QA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Pytest &amp; Unittest: 6 comprehensive unit/integration test suites</a:t>
            </a:r>
            <a:br/>
            <a:r>
              <a:t>• Interactive CLI Console (live_demo.py): Live evaluation runner</a:t>
            </a:r>
            <a:br/>
            <a:r>
              <a:t>• JSON &amp; CSV Artifacts: Full audit trails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Deliverables Matrix: Implemented &amp; Achieved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Deliverable 1: Data Extraction (Completed)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Secondary Dataset (CSV):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quarterly_features.csv (1,334 quarters, 94 features) and annual_features.csv (323 company-years).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Extraction Notebook (ipynb):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01_edgar_data_extraction.ipynb — fully reproducible EDGAR data extraction.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Audit Trail &amp; Data Dictionary: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facts_long.csv (47,514 facts mapped to accession numbers) and data_dictionary.csv.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Documentation &amp; Slides: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README.md and SEC_Anomaly_Detection_Deliverable1.pptx.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Deliverable 2: Machine Learning &amp; Pipeline (Achieved)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Machine Learning Notebook (ipynb):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02_ml_anomaly_detection.ipynb — fully executed end-to-end with 14 code cells, tables, and visualizations.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Automated New-Filing Pipeline: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run_pipeline.py and src/anomaly_pipeline.py supporting batch and real-time single-filing scoring.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Multi-Year Trend Analytics: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compute_multi_year_trends evaluating trailing 12-quarter baselines and identifying sudden deviations.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Comprehensive Documentation: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docs/DELIVERABLE2.md and updated README.md.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Deliverable 2 Presentation (PPTX):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SEC_Anomaly_Detection_Deliverable2.pptx covering all evaluation rubrics.</a:t>
            </a:r>
          </a:p>
          <a:p>
            <a:pPr>
              <a:defRPr sz="1100" b="1">
                <a:solidFill>
                  <a:srgbClr val="D95F02"/>
                </a:solidFill>
              </a:defRPr>
            </a:pPr>
            <a:r>
              <a:t>✓ Live Demonstration Tool: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live_demo.py interactive console for examination panel demonstration.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F02"/>
                </a:solidFill>
              </a:defRPr>
            </a:pPr>
            <a:r>
              <a:t>FDA-2 • DELIVERABLE 2 • MACHINE LEARNING &amp;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Conclusions &amp; Operational Triage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365D"/>
                </a:solidFill>
              </a:defRPr>
            </a:pPr>
            <a:r>
              <a:t>Final Outcomes &amp; Operational Recommendations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Robust Anomaly Prioritization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The dual-engine architecture (Isolation Forest + Robust Z-Scores + Multi-Year Trends) successfully separates extreme accounting events from regular business noise. It proves effective at flagging known fraud cases like Kraft Heinz and Under Armour.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Operational Triage Protocol for Regulators / Auditors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1. Screen incoming filings through automated pipeline -&gt; 2. Flag quarters crossing multi-method thresholds -&gt; 3. Inspect top contributing red flags (e.g. AR growth minus revenue growth) -&gt; 4. Review filing footnotes, one-off charges, and accession history before alleging fraud.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Limitations &amp; Integrity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Anomalies flag review candidates, not fraud proof. Genuine structural events (spinoffs like 3M Solventum or J&amp;J Kenvue) also produce statistical deviations and are correctly documented.</a:t>
            </a:r>
          </a:p>
          <a:p>
            <a:pPr>
              <a:defRPr sz="1300" b="1">
                <a:solidFill>
                  <a:srgbClr val="D95F02"/>
                </a:solidFill>
              </a:defRPr>
            </a:pPr>
            <a:r>
              <a:t>• Project Status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100% of Deliverable 1 and Deliverable 2 requirements have been fully developed, tested, documented, and packaged for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